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77BD31A-E325-8257-EAA3-F853ADFF8CB4}">
          <p14:sldIdLst>
            <p14:sldId id="256"/>
          </p14:sldIdLst>
        </p14:section>
        <p14:section name="Problem" id="{D7E988A8-18C0-50B2-9B2E-38C30B237FF0}">
          <p14:sldIdLst>
            <p14:sldId id="257"/>
          </p14:sldIdLst>
        </p14:section>
        <p14:section name="Why it matters" id="{B85A47C8-1D2D-DC31-A7EB-2E5525379E35}">
          <p14:sldIdLst>
            <p14:sldId id="258"/>
          </p14:sldIdLst>
        </p14:section>
        <p14:section name="Exact methods" id="{90C515A4-C932-0D33-302D-82448B019140}">
          <p14:sldIdLst>
            <p14:sldId id="259"/>
            <p14:sldId id="260"/>
          </p14:sldIdLst>
        </p14:section>
        <p14:section name="Worked example" id="{182625CD-13EF-49FD-9755-9922574BCD9C}">
          <p14:sldIdLst>
            <p14:sldId id="261"/>
            <p14:sldId id="262"/>
            <p14:sldId id="263"/>
            <p14:sldId id="264"/>
          </p14:sldIdLst>
        </p14:section>
        <p14:section name="Heuristics" id="{26426497-10C7-9368-B7B9-1A812C3641AF}">
          <p14:sldIdLst>
            <p14:sldId id="265"/>
          </p14:sldIdLst>
        </p14:section>
        <p14:section name="Wrap-up" id="{5AB0AA21-1164-F7D6-232D-4D1F04ADDC02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951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TSP as a classic NP-hard optimisation problem in DAA. We will solve one 4-city example three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common variants. Approximation guarantees later need the metric (triangle inequality)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Factorial growth makes brute force useless for realistic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2^n subsets times n end-cities times n predecessors gives n^2 2^n. Far better than n! but still exponential.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Symmetric distances. Orange city A is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Tours 1 and 6, 2 and 4, 3 and 5 are reverses of each other, so only 3 distinct 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only one predecessor available, each size-2 entry has a single candidate.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 computed only 3 + 6 + 3 table entries instead of enumerating all tours; the gap grows enormously with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happens to hit the optimum here, but it is not guaranteed. Triangle inequality: d(a,c) &lt;= d(a,b)+d(b,c).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invite questions. MST doubling and Christofides were not run on the example; their guarantees are worst-case bounds (at most 160 and 120 here).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035040" y="822960"/>
            <a:ext cx="1828800" cy="274320"/>
          </a:xfrm>
          <a:prstGeom prst="line">
            <a:avLst/>
          </a:prstGeom>
          <a:noFill/>
          <a:ln w="25400">
            <a:solidFill>
              <a:srgbClr val="9FC5C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7863840" y="822960"/>
            <a:ext cx="548640" cy="1645920"/>
          </a:xfrm>
          <a:prstGeom prst="line">
            <a:avLst/>
          </a:prstGeom>
          <a:noFill/>
          <a:ln w="25400">
            <a:solidFill>
              <a:srgbClr val="9FC5CC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 flipV="1">
            <a:off x="6949440" y="2468880"/>
            <a:ext cx="1463040" cy="1097280"/>
          </a:xfrm>
          <a:prstGeom prst="line">
            <a:avLst/>
          </a:prstGeom>
          <a:noFill/>
          <a:ln w="25400">
            <a:solidFill>
              <a:srgbClr val="9FC5C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760720" y="2377440"/>
            <a:ext cx="1188720" cy="1188720"/>
          </a:xfrm>
          <a:prstGeom prst="line">
            <a:avLst/>
          </a:prstGeom>
          <a:noFill/>
          <a:ln w="25400">
            <a:solidFill>
              <a:srgbClr val="9FC5C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5760720" y="1097280"/>
            <a:ext cx="274320" cy="1280160"/>
          </a:xfrm>
          <a:prstGeom prst="line">
            <a:avLst/>
          </a:prstGeom>
          <a:noFill/>
          <a:ln w="25400">
            <a:solidFill>
              <a:srgbClr val="9FC5CC"/>
            </a:solidFill>
            <a:prstDash val="dash"/>
          </a:ln>
        </p:spPr>
      </p:sp>
      <p:sp>
        <p:nvSpPr>
          <p:cNvPr id="7" name="City 1"/>
          <p:cNvSpPr/>
          <p:nvPr/>
        </p:nvSpPr>
        <p:spPr>
          <a:xfrm>
            <a:off x="5852160" y="914400"/>
            <a:ext cx="365760" cy="36576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City 2"/>
          <p:cNvSpPr/>
          <p:nvPr/>
        </p:nvSpPr>
        <p:spPr>
          <a:xfrm>
            <a:off x="7680960" y="64008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City 3"/>
          <p:cNvSpPr/>
          <p:nvPr/>
        </p:nvSpPr>
        <p:spPr>
          <a:xfrm>
            <a:off x="8229600" y="228600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City 4"/>
          <p:cNvSpPr/>
          <p:nvPr/>
        </p:nvSpPr>
        <p:spPr>
          <a:xfrm>
            <a:off x="6766560" y="338328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City 5"/>
          <p:cNvSpPr/>
          <p:nvPr/>
        </p:nvSpPr>
        <p:spPr>
          <a:xfrm>
            <a:off x="5577840" y="219456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DESIGN AND ANALYSIS OF ALGORITHMS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645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Travelling Salesman Problem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00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Finding the shortest tour that visits every city exactly once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the TSP?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297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Given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 cities and the distance d(i, j) between every pair.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Goal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Find a minimum-cost Hamiltonian cycle: visit each city exactly once, then return to the start.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Class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NP-hard; no known polynomial-time exact algorithm.</a:t>
            </a:r>
            <a:endParaRPr lang="en-US" sz="1400" dirty="0"/>
          </a:p>
        </p:txBody>
      </p:sp>
      <p:sp>
        <p:nvSpPr>
          <p:cNvPr id="4" name="Graph panel"/>
          <p:cNvSpPr/>
          <p:nvPr/>
        </p:nvSpPr>
        <p:spPr>
          <a:xfrm>
            <a:off x="5120640" y="1188720"/>
            <a:ext cx="347472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5760720" y="1463040"/>
            <a:ext cx="1920240" cy="182880"/>
          </a:xfrm>
          <a:prstGeom prst="line">
            <a:avLst/>
          </a:prstGeom>
          <a:noFill/>
          <a:ln w="38100">
            <a:solidFill>
              <a:srgbClr val="F28F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463040"/>
            <a:ext cx="457200" cy="1005840"/>
          </a:xfrm>
          <a:prstGeom prst="line">
            <a:avLst/>
          </a:prstGeom>
          <a:noFill/>
          <a:ln w="38100">
            <a:solidFill>
              <a:srgbClr val="F28F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766560" y="2468880"/>
            <a:ext cx="1371600" cy="457200"/>
          </a:xfrm>
          <a:prstGeom prst="line">
            <a:avLst/>
          </a:prstGeom>
          <a:noFill/>
          <a:ln w="38100">
            <a:solidFill>
              <a:srgbClr val="F28F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2514600"/>
            <a:ext cx="1097280" cy="411480"/>
          </a:xfrm>
          <a:prstGeom prst="line">
            <a:avLst/>
          </a:prstGeom>
          <a:noFill/>
          <a:ln w="38100">
            <a:solidFill>
              <a:srgbClr val="F28F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669280" y="1645920"/>
            <a:ext cx="91440" cy="868680"/>
          </a:xfrm>
          <a:prstGeom prst="line">
            <a:avLst/>
          </a:prstGeom>
          <a:noFill/>
          <a:ln w="38100">
            <a:solidFill>
              <a:srgbClr val="F28F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1645920"/>
            <a:ext cx="2377440" cy="822960"/>
          </a:xfrm>
          <a:prstGeom prst="line">
            <a:avLst/>
          </a:prstGeom>
          <a:noFill/>
          <a:ln w="15875">
            <a:solidFill>
              <a:srgbClr val="9FC5C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5669280" y="1463040"/>
            <a:ext cx="2011680" cy="1051560"/>
          </a:xfrm>
          <a:prstGeom prst="line">
            <a:avLst/>
          </a:prstGeom>
          <a:noFill/>
          <a:ln w="15875">
            <a:solidFill>
              <a:srgbClr val="9FC5CC"/>
            </a:solidFill>
            <a:prstDash val="dash"/>
          </a:ln>
        </p:spPr>
      </p:sp>
      <p:sp>
        <p:nvSpPr>
          <p:cNvPr id="12" name="Node A"/>
          <p:cNvSpPr/>
          <p:nvPr/>
        </p:nvSpPr>
        <p:spPr>
          <a:xfrm>
            <a:off x="5559552" y="1444752"/>
            <a:ext cx="402336" cy="402336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5955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4" name="Node B"/>
          <p:cNvSpPr/>
          <p:nvPr/>
        </p:nvSpPr>
        <p:spPr>
          <a:xfrm>
            <a:off x="7479792" y="1261872"/>
            <a:ext cx="402336" cy="402336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7979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Node C"/>
          <p:cNvSpPr/>
          <p:nvPr/>
        </p:nvSpPr>
        <p:spPr>
          <a:xfrm>
            <a:off x="7936992" y="2267712"/>
            <a:ext cx="402336" cy="402336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3699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8" name="Node D"/>
          <p:cNvSpPr/>
          <p:nvPr/>
        </p:nvSpPr>
        <p:spPr>
          <a:xfrm>
            <a:off x="6565392" y="2724912"/>
            <a:ext cx="402336" cy="402336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539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Node E"/>
          <p:cNvSpPr/>
          <p:nvPr/>
        </p:nvSpPr>
        <p:spPr>
          <a:xfrm>
            <a:off x="5468112" y="2313432"/>
            <a:ext cx="402336" cy="402336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6811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Orange = optimal tour</a:t>
            </a:r>
            <a:endParaRPr lang="en-US" sz="1200" dirty="0"/>
          </a:p>
        </p:txBody>
      </p:sp>
      <p:sp>
        <p:nvSpPr>
          <p:cNvPr id="23" name="Variant Symmetric"/>
          <p:cNvSpPr/>
          <p:nvPr/>
        </p:nvSpPr>
        <p:spPr>
          <a:xfrm>
            <a:off x="548640" y="365760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3730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Symmetric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d(i, j) = d(j, i)</a:t>
            </a:r>
            <a:endParaRPr lang="en-US" sz="1400" dirty="0"/>
          </a:p>
        </p:txBody>
      </p:sp>
      <p:sp>
        <p:nvSpPr>
          <p:cNvPr id="26" name="Variant Asymmetric"/>
          <p:cNvSpPr/>
          <p:nvPr/>
        </p:nvSpPr>
        <p:spPr>
          <a:xfrm>
            <a:off x="3291840" y="365760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474720" y="3730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Asymmetric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d(i, j) ≠ d(j, i) allowed</a:t>
            </a:r>
            <a:endParaRPr lang="en-US" sz="1400" dirty="0"/>
          </a:p>
        </p:txBody>
      </p:sp>
      <p:sp>
        <p:nvSpPr>
          <p:cNvPr id="29" name="Variant Metric"/>
          <p:cNvSpPr/>
          <p:nvPr/>
        </p:nvSpPr>
        <p:spPr>
          <a:xfrm>
            <a:off x="6035040" y="365760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217920" y="3730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Metric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d(i, k) ≤ d(i, j) + d(j, k)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Real-World Applications</a:t>
            </a:r>
            <a:endParaRPr lang="en-US" sz="3200" dirty="0"/>
          </a:p>
        </p:txBody>
      </p:sp>
      <p:sp>
        <p:nvSpPr>
          <p:cNvPr id="3" name="Card Logistics"/>
          <p:cNvSpPr/>
          <p:nvPr/>
        </p:nvSpPr>
        <p:spPr>
          <a:xfrm>
            <a:off x="548640" y="128016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777240" y="161848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Logistic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783080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Logistics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Delivery routes, courier and school-bus planning</a:t>
            </a:r>
            <a:endParaRPr lang="en-US" sz="1400" dirty="0"/>
          </a:p>
        </p:txBody>
      </p:sp>
      <p:sp>
        <p:nvSpPr>
          <p:cNvPr id="8" name="Card Circuit Design"/>
          <p:cNvSpPr/>
          <p:nvPr/>
        </p:nvSpPr>
        <p:spPr>
          <a:xfrm>
            <a:off x="4663440" y="128016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4892040" y="161848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Circuit Desig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78308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064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Circuit Design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80644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Drilling paths on printed circuit boards</a:t>
            </a:r>
            <a:endParaRPr lang="en-US" sz="1400" dirty="0"/>
          </a:p>
        </p:txBody>
      </p:sp>
      <p:sp>
        <p:nvSpPr>
          <p:cNvPr id="13" name="Card Genomics"/>
          <p:cNvSpPr/>
          <p:nvPr/>
        </p:nvSpPr>
        <p:spPr>
          <a:xfrm>
            <a:off x="548640" y="292608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777240" y="326440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Genomic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42900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Genomics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Ordering DNA fragments during sequencing</a:t>
            </a:r>
            <a:endParaRPr lang="en-US" sz="1400" dirty="0"/>
          </a:p>
        </p:txBody>
      </p:sp>
      <p:sp>
        <p:nvSpPr>
          <p:cNvPr id="18" name="Card Astronomy"/>
          <p:cNvSpPr/>
          <p:nvPr/>
        </p:nvSpPr>
        <p:spPr>
          <a:xfrm>
            <a:off x="4663440" y="292608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4892040" y="326440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Astronom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42900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064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Astronomy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80644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Minimising telescope slewing between targets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Brute Force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Fix a start city.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Generate all (n − 1)! orderings of the other cities.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Add up the edge costs of each tour. On a symmetric graph, a tour and its reverse cost the same, so only (n − 1)! / 2 are distinct.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Keep the cheapest tour.</a:t>
            </a:r>
            <a:endParaRPr lang="en-US" sz="1600" dirty="0"/>
          </a:p>
        </p:txBody>
      </p:sp>
      <p:sp>
        <p:nvSpPr>
          <p:cNvPr id="4" name="Stat card n = 5"/>
          <p:cNvSpPr/>
          <p:nvPr/>
        </p:nvSpPr>
        <p:spPr>
          <a:xfrm>
            <a:off x="5120640" y="1280160"/>
            <a:ext cx="1645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2064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distinct tours, n = 5</a:t>
            </a:r>
            <a:endParaRPr lang="en-US" sz="1200" dirty="0"/>
          </a:p>
        </p:txBody>
      </p:sp>
      <p:sp>
        <p:nvSpPr>
          <p:cNvPr id="7" name="Stat card n = 10"/>
          <p:cNvSpPr/>
          <p:nvPr/>
        </p:nvSpPr>
        <p:spPr>
          <a:xfrm>
            <a:off x="6949440" y="1280160"/>
            <a:ext cx="1645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181,440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distinct tours, n = 10</a:t>
            </a:r>
            <a:endParaRPr lang="en-US" sz="1200" dirty="0"/>
          </a:p>
        </p:txBody>
      </p:sp>
      <p:sp>
        <p:nvSpPr>
          <p:cNvPr id="10" name="Stat card n = 15"/>
          <p:cNvSpPr/>
          <p:nvPr/>
        </p:nvSpPr>
        <p:spPr>
          <a:xfrm>
            <a:off x="5120640" y="2697480"/>
            <a:ext cx="1645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× 10¹⁰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distinct tours, n = 15</a:t>
            </a:r>
            <a:endParaRPr lang="en-US" sz="1200" dirty="0"/>
          </a:p>
        </p:txBody>
      </p:sp>
      <p:sp>
        <p:nvSpPr>
          <p:cNvPr id="13" name="Stat card n = 20"/>
          <p:cNvSpPr/>
          <p:nvPr/>
        </p:nvSpPr>
        <p:spPr>
          <a:xfrm>
            <a:off x="6949440" y="2697480"/>
            <a:ext cx="1645920" cy="123444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× 10¹⁶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distinct tours, n = 20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Time complexity: O(n!). Impractical beyond about 12 to 15 cities.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Dynamic Programming (Held–Karp)</a:t>
            </a:r>
            <a:endParaRPr lang="en-US" sz="3200" dirty="0"/>
          </a:p>
        </p:txBody>
      </p:sp>
      <p:sp>
        <p:nvSpPr>
          <p:cNvPr id="3" name="Recurrence box"/>
          <p:cNvSpPr/>
          <p:nvPr/>
        </p:nvSpPr>
        <p:spPr>
          <a:xfrm>
            <a:off x="548640" y="1188720"/>
            <a:ext cx="804672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1615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C(S, j) = min</a:t>
            </a:r>
            <a:r>
              <a:rPr lang="en-US" sz="1400" dirty="0">
                <a:solidFill>
                  <a:srgbClr val="F28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 ∈ S − {j} </a:t>
            </a: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C(S − {j}, i) + d(i, j) ]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0E3"/>
                </a:solidFill>
              </a:rPr>
              <a:t>C(S, j): cheapest path from the start city that visits every city in S and ends at j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Base case: C({j}, j) = d(start, j).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Grow subsets S from size 2 up to n − 1.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Close the tour: min over j of C(all, j) + d(j, start).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Backtrack the stored predecessors to recover the route.</a:t>
            </a:r>
            <a:endParaRPr lang="en-US" sz="1400" dirty="0"/>
          </a:p>
        </p:txBody>
      </p:sp>
      <p:sp>
        <p:nvSpPr>
          <p:cNvPr id="7" name="DP stat Time"/>
          <p:cNvSpPr/>
          <p:nvPr/>
        </p:nvSpPr>
        <p:spPr>
          <a:xfrm>
            <a:off x="5577840" y="2468880"/>
            <a:ext cx="30175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15000" y="24688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Time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 · 2ⁿ)</a:t>
            </a:r>
            <a:endParaRPr lang="en-US" sz="1800" dirty="0"/>
          </a:p>
        </p:txBody>
      </p:sp>
      <p:sp>
        <p:nvSpPr>
          <p:cNvPr id="10" name="DP stat Space"/>
          <p:cNvSpPr/>
          <p:nvPr/>
        </p:nvSpPr>
        <p:spPr>
          <a:xfrm>
            <a:off x="5577840" y="3218688"/>
            <a:ext cx="30175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0" y="321868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Space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2186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· 2ⁿ)</a:t>
            </a:r>
            <a:endParaRPr lang="en-US" sz="1800" dirty="0"/>
          </a:p>
        </p:txBody>
      </p:sp>
      <p:sp>
        <p:nvSpPr>
          <p:cNvPr id="13" name="DP stat Result"/>
          <p:cNvSpPr/>
          <p:nvPr/>
        </p:nvSpPr>
        <p:spPr>
          <a:xfrm>
            <a:off x="5577840" y="3968496"/>
            <a:ext cx="30175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396849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Result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9684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optimum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Example: 4 Cities</a:t>
            </a:r>
            <a:endParaRPr lang="en-US" sz="3200" dirty="0"/>
          </a:p>
        </p:txBody>
      </p:sp>
      <p:sp>
        <p:nvSpPr>
          <p:cNvPr id="3" name="Example graph panel"/>
          <p:cNvSpPr/>
          <p:nvPr/>
        </p:nvSpPr>
        <p:spPr>
          <a:xfrm>
            <a:off x="548640" y="1234440"/>
            <a:ext cx="420624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783080"/>
            <a:ext cx="2926080" cy="0"/>
          </a:xfrm>
          <a:prstGeom prst="line">
            <a:avLst/>
          </a:prstGeom>
          <a:noFill/>
          <a:ln w="22225">
            <a:solidFill>
              <a:srgbClr val="5C7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1783080"/>
            <a:ext cx="0" cy="2057400"/>
          </a:xfrm>
          <a:prstGeom prst="line">
            <a:avLst/>
          </a:prstGeom>
          <a:noFill/>
          <a:ln w="22225">
            <a:solidFill>
              <a:srgbClr val="5C7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88720" y="3840480"/>
            <a:ext cx="2926080" cy="0"/>
          </a:xfrm>
          <a:prstGeom prst="line">
            <a:avLst/>
          </a:prstGeom>
          <a:noFill/>
          <a:ln w="22225">
            <a:solidFill>
              <a:srgbClr val="5C7F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88720" y="1783080"/>
            <a:ext cx="0" cy="2057400"/>
          </a:xfrm>
          <a:prstGeom prst="line">
            <a:avLst/>
          </a:prstGeom>
          <a:noFill/>
          <a:ln w="22225">
            <a:solidFill>
              <a:srgbClr val="5C7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783080"/>
            <a:ext cx="2926080" cy="2057400"/>
          </a:xfrm>
          <a:prstGeom prst="line">
            <a:avLst/>
          </a:prstGeom>
          <a:noFill/>
          <a:ln w="22225">
            <a:solidFill>
              <a:srgbClr val="5C7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88720" y="1783080"/>
            <a:ext cx="2926080" cy="2057400"/>
          </a:xfrm>
          <a:prstGeom prst="line">
            <a:avLst/>
          </a:prstGeom>
          <a:noFill/>
          <a:ln w="22225">
            <a:solidFill>
              <a:srgbClr val="5C7F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636776"/>
            <a:ext cx="45720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10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660904"/>
            <a:ext cx="45720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35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694176"/>
            <a:ext cx="45720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30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660904"/>
            <a:ext cx="45720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837944" y="2258568"/>
            <a:ext cx="45720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15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08376" y="2258568"/>
            <a:ext cx="45720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25</a:t>
            </a:r>
            <a:endParaRPr lang="en-US" sz="1400" dirty="0"/>
          </a:p>
        </p:txBody>
      </p:sp>
      <p:sp>
        <p:nvSpPr>
          <p:cNvPr id="16" name="City A"/>
          <p:cNvSpPr/>
          <p:nvPr/>
        </p:nvSpPr>
        <p:spPr>
          <a:xfrm>
            <a:off x="960120" y="155448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8" name="City B"/>
          <p:cNvSpPr/>
          <p:nvPr/>
        </p:nvSpPr>
        <p:spPr>
          <a:xfrm>
            <a:off x="3886200" y="1554480"/>
            <a:ext cx="457200" cy="457200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0" name="City C"/>
          <p:cNvSpPr/>
          <p:nvPr/>
        </p:nvSpPr>
        <p:spPr>
          <a:xfrm>
            <a:off x="3886200" y="3611880"/>
            <a:ext cx="457200" cy="457200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2" name="City D"/>
          <p:cNvSpPr/>
          <p:nvPr/>
        </p:nvSpPr>
        <p:spPr>
          <a:xfrm>
            <a:off x="960120" y="3611880"/>
            <a:ext cx="457200" cy="457200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Distance matrix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45920"/>
          <a:ext cx="347472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120640" y="3703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Start and end at A. We will find the cheapest tour three ways: brute force, dynamic programming and a heuristic.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Example: Brute Force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Fix A as the start: (4 − 1)! = 6 orderings of B, C, D.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calculation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 → C → D →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+ 35 + 30 + 20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 → D → C →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+ 25 + 30 + 15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 → D →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+ 35 + 25 + 20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D → B →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+ 30 + 25 + 10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D → B → C →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+ 25 + 35 + 15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D → C → B →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+ 30 + 35 + 10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sult banner"/>
          <p:cNvSpPr/>
          <p:nvPr/>
        </p:nvSpPr>
        <p:spPr>
          <a:xfrm>
            <a:off x="548640" y="425196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Minimum cost = 80, via A → B → D → C → A (tour 4 is its reverse)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Example: DP Table (Sizes 1 and 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C(S, j) = cheapest path from A through all cities in S, ending at j.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Size 1 (base case)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27432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C({B}, 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C({C}, 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C({D}, 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Cost = d(A, j)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Size 2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92024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C({B,C}, 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C({C},C) + d(C,B) = 15 + 35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C({B,C}, 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C({B},B) + d(B,C) = 10 + 35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C({B,D}, 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C({D},D) + d(D,B) = 20 + 25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C({B,D}, 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C({B},B) + d(B,D) = 10 + 25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C({C,D}, 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C({D},D) + d(D,C) = 20 + 30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C({C,D}, 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C({C},C) + d(C,D) = 15 + 30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Example: DP Final Step (Size 3)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 = {B, C, D}. Try every possible predecessor of j, then add the return edge to A.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at 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 predecessors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C(S, j)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d(j, 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min(50 + 35, 45 + 25)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min(45 + 35, 35 + 30)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min(50 + 25, 45 + 30)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acktrack box"/>
          <p:cNvSpPr/>
          <p:nvPr/>
        </p:nvSpPr>
        <p:spPr>
          <a:xfrm>
            <a:off x="548640" y="365760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37033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Optimal cost = 80. </a:t>
            </a:r>
            <a:r>
              <a:rPr lang="en-US" sz="1400" dirty="0">
                <a:solidFill>
                  <a:schemeClr val="tx1"/>
                </a:solidFill>
              </a:rPr>
              <a:t>Backtrack from C: C(S, C) came from D, and C({B,D}, D) came from B, giving A → B → D → C → A, the same tour as brute force.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Approximation and Heuristics</a:t>
            </a:r>
            <a:endParaRPr lang="en-US" sz="3200" dirty="0"/>
          </a:p>
        </p:txBody>
      </p:sp>
      <p:sp>
        <p:nvSpPr>
          <p:cNvPr id="3" name="Card Nearest Neighbour"/>
          <p:cNvSpPr/>
          <p:nvPr/>
        </p:nvSpPr>
        <p:spPr>
          <a:xfrm>
            <a:off x="548640" y="1188720"/>
            <a:ext cx="2560320" cy="26974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ag Nearest Neighbour"/>
          <p:cNvSpPr/>
          <p:nvPr/>
        </p:nvSpPr>
        <p:spPr>
          <a:xfrm>
            <a:off x="731520" y="13258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O(n²)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Nearest Neighbour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Always move to the closest unvisited city, then return home.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No constant guarantee; can be far from optimal</a:t>
            </a:r>
            <a:endParaRPr lang="en-US" sz="1400" dirty="0"/>
          </a:p>
        </p:txBody>
      </p:sp>
      <p:sp>
        <p:nvSpPr>
          <p:cNvPr id="9" name="Card MST Doubling"/>
          <p:cNvSpPr/>
          <p:nvPr/>
        </p:nvSpPr>
        <p:spPr>
          <a:xfrm>
            <a:off x="3291840" y="1188720"/>
            <a:ext cx="2560320" cy="26974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ag MST Doubling"/>
          <p:cNvSpPr/>
          <p:nvPr/>
        </p:nvSpPr>
        <p:spPr>
          <a:xfrm>
            <a:off x="3474720" y="13258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2-approx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MST Doubling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an MST, walk it in preorder, shortcut repeated cities.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Needs triangle inequality; tour ≤ 2 × optimal</a:t>
            </a:r>
            <a:endParaRPr lang="en-US" sz="1400" dirty="0"/>
          </a:p>
        </p:txBody>
      </p:sp>
      <p:sp>
        <p:nvSpPr>
          <p:cNvPr id="15" name="Card Christofides"/>
          <p:cNvSpPr/>
          <p:nvPr/>
        </p:nvSpPr>
        <p:spPr>
          <a:xfrm>
            <a:off x="6035040" y="1188720"/>
            <a:ext cx="2560320" cy="26974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ag Christofides"/>
          <p:cNvSpPr/>
          <p:nvPr/>
        </p:nvSpPr>
        <p:spPr>
          <a:xfrm>
            <a:off x="6217920" y="13258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1.5-approx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Christofides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MST plus a minimum matching of odd-degree nodes, then shortcut.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Needs triangle inequality; tour ≤ 1.5 × optimal</a:t>
            </a:r>
            <a:endParaRPr lang="en-US" sz="1400" dirty="0"/>
          </a:p>
        </p:txBody>
      </p:sp>
      <p:sp>
        <p:nvSpPr>
          <p:cNvPr id="21" name="Heuristic example banner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On our example, nearest neighbour from A: </a:t>
            </a:r>
            <a:r>
              <a:rPr lang="en-US" sz="1400" b="1" dirty="0">
                <a:solidFill>
                  <a:srgbClr val="F28F3B"/>
                </a:solidFill>
              </a:rPr>
              <a:t>A → B → D → C → A = 10 + 25 + 30 + 15 = 80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graphicFrame>
        <p:nvGraphicFramePr>
          <p:cNvPr id="12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30352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4-city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O(n!)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Held–Karp DP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4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 · 2ⁿ)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4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4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4F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neighbour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guarantee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4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MST / Christofides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4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4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/ 1.5× bound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4F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4F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72200" y="118872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Key takeaways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TSP is NP-hard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Exact methods are exponential; DP beats n!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Heuristics trade accuracy for speed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2B38398B-0317-4386-DAD1-6B42DBC7383B}"/>
              </a:ext>
            </a:extLst>
          </p:cNvPr>
          <p:cNvSpPr txBox="1"/>
          <p:nvPr/>
        </p:nvSpPr>
        <p:spPr>
          <a:xfrm>
            <a:off x="5696857" y="4572000"/>
            <a:ext cx="2920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</a:rPr>
              <a:t>Created using Claude ai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SP Route">
  <a:themeElements>
    <a:clrScheme name="TSP Route">
      <a:dk1>
        <a:srgbClr val="12303A"/>
      </a:dk1>
      <a:lt1>
        <a:srgbClr val="FFFFFF"/>
      </a:lt1>
      <a:dk2>
        <a:srgbClr val="1F7A8C"/>
      </a:dk2>
      <a:lt2>
        <a:srgbClr val="EAF3F4"/>
      </a:lt2>
      <a:accent1>
        <a:srgbClr val="1F7A8C"/>
      </a:accent1>
      <a:accent2>
        <a:srgbClr val="F28F3B"/>
      </a:accent2>
      <a:accent3>
        <a:srgbClr val="2E9E83"/>
      </a:accent3>
      <a:accent4>
        <a:srgbClr val="C8553D"/>
      </a:accent4>
      <a:accent5>
        <a:srgbClr val="5C7F8A"/>
      </a:accent5>
      <a:accent6>
        <a:srgbClr val="9FC5CC"/>
      </a:accent6>
      <a:hlink>
        <a:srgbClr val="1F7A8C"/>
      </a:hlink>
      <a:folHlink>
        <a:srgbClr val="5C7F8A"/>
      </a:folHlink>
    </a:clrScheme>
    <a:fontScheme name="TSP Rou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1415</Words>
  <Application>Microsoft Office PowerPoint</Application>
  <PresentationFormat>On-screen Show (16:9)</PresentationFormat>
  <Paragraphs>256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TSP Route</vt:lpstr>
      <vt:lpstr>PowerPoint Presentation</vt:lpstr>
      <vt:lpstr>What is the TSP?</vt:lpstr>
      <vt:lpstr>Real-World Applications</vt:lpstr>
      <vt:lpstr>Brute Force Approach</vt:lpstr>
      <vt:lpstr>Dynamic Programming (Held–Karp)</vt:lpstr>
      <vt:lpstr>Worked Example: 4 Cities</vt:lpstr>
      <vt:lpstr>Example: Brute Force</vt:lpstr>
      <vt:lpstr>Example: DP Table (Sizes 1 and 2)</vt:lpstr>
      <vt:lpstr>Example: DP Final Step (Size 3)</vt:lpstr>
      <vt:lpstr>Approximation and Heuristics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Travelling Salesman Problem</dc:title>
  <dc:subject>Design and Analysis of Algorithms</dc:subject>
  <dc:creator>PptxGenJS</dc:creator>
  <cp:lastModifiedBy>SHARMISHTHA INGOLE</cp:lastModifiedBy>
  <cp:revision>2</cp:revision>
  <dcterms:created xsi:type="dcterms:W3CDTF">2026-10-17T14:29:46Z</dcterms:created>
  <dcterms:modified xsi:type="dcterms:W3CDTF">2026-10-20T06:57:07Z</dcterms:modified>
</cp:coreProperties>
</file>